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658033566d47f5" /><Relationship Type="http://schemas.openxmlformats.org/officeDocument/2006/relationships/extended-properties" Target="/docProps/app.xml" Id="R2b711e681ace47dc" /><Relationship Type="http://schemas.openxmlformats.org/officeDocument/2006/relationships/officeDocument" Target="/ppt/presentation.xml" Id="Re859b308668547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88580bb1d44322"/>
  </p:sldMasterIdLst>
  <p:notesMasterIdLst>
    <p:notesMasterId xmlns:r="http://schemas.openxmlformats.org/officeDocument/2006/relationships" r:id="R353e80fc8e2f40f7"/>
  </p:notesMasterIdLst>
  <p:sldIdLst>
    <p:sldId xmlns:r="http://schemas.openxmlformats.org/officeDocument/2006/relationships" id="256" r:id="Rc8c0f1c75c6449fd"/>
    <p:sldId xmlns:r="http://schemas.openxmlformats.org/officeDocument/2006/relationships" id="257" r:id="Ra759952dbd41482a"/>
    <p:sldId xmlns:r="http://schemas.openxmlformats.org/officeDocument/2006/relationships" id="258" r:id="R66c77ceebd92448f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61ab0c82a443cf" /><Relationship Type="http://schemas.openxmlformats.org/officeDocument/2006/relationships/slideMaster" Target="/ppt/slideMasters/slideMaster1.xml" Id="R6088580bb1d44322" /><Relationship Type="http://schemas.openxmlformats.org/officeDocument/2006/relationships/notesMaster" Target="/ppt/notesMasters/notesMaster1.xml" Id="R353e80fc8e2f40f7" /><Relationship Type="http://schemas.openxmlformats.org/officeDocument/2006/relationships/presProps" Target="/ppt/presProps.xml" Id="R9a7979f23ee84310" /><Relationship Type="http://schemas.openxmlformats.org/officeDocument/2006/relationships/tableStyles" Target="/ppt/tableStyles.xml" Id="R4c5d1fbba5e241df" /><Relationship Type="http://schemas.openxmlformats.org/officeDocument/2006/relationships/slide" Target="/ppt/slides/slide1.xml" Id="Rc8c0f1c75c6449fd" /><Relationship Type="http://schemas.openxmlformats.org/officeDocument/2006/relationships/slide" Target="/ppt/slides/slide2.xml" Id="Ra759952dbd41482a" /><Relationship Type="http://schemas.openxmlformats.org/officeDocument/2006/relationships/slide" Target="/ppt/slides/slide3.xml" Id="R66c77ceebd9244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944d6c2f304d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3c1c05ff734d76" /><Relationship Type="http://schemas.openxmlformats.org/officeDocument/2006/relationships/notesMaster" Target="/ppt/notesMasters/notesMaster1.xml" Id="Rf58c96624de746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e1fb61fca14ed5" /><Relationship Type="http://schemas.openxmlformats.org/officeDocument/2006/relationships/notesMaster" Target="/ppt/notesMasters/notesMaster1.xml" Id="R08dd628a2fde48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b1033b324744ac" /><Relationship Type="http://schemas.openxmlformats.org/officeDocument/2006/relationships/notesMaster" Target="/ppt/notesMasters/notesMaster1.xml" Id="R8d33135a155d4f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8c3f3e0e334e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ea7d6636c64d8a" /><Relationship Type="http://schemas.openxmlformats.org/officeDocument/2006/relationships/slideLayout" Target="/ppt/slideLayouts/slideLayout1.xml" Id="R83d3e6c4cc784e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d3e6c4cc784e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81f36ce914ed1" /><Relationship Type="http://schemas.openxmlformats.org/officeDocument/2006/relationships/notesSlide" Target="/ppt/notesSlides/notesSlide1.xml" Id="R6f7b50bbc19d47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a907d0840473c" /><Relationship Type="http://schemas.openxmlformats.org/officeDocument/2006/relationships/notesSlide" Target="/ppt/notesSlides/notesSlide2.xml" Id="R9371dc8e34a548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5c5fe14ef4126" /><Relationship Type="http://schemas.openxmlformats.org/officeDocument/2006/relationships/notesSlide" Target="/ppt/notesSlides/notesSlide3.xml" Id="Ra16c24c3cdff42a2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71047"/>
            </a:gs>
            <a:gs pos="50000">
              <a:srgbClr val="080B38"/>
            </a:gs>
            <a:gs pos="100000">
              <a:srgbClr val="062D5E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704B9F-B56A-4C95-927C-F1444505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3619500" cy="3238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B34AF2">
                  <a:alpha val="70000"/>
                </a:srgbClr>
              </a:gs>
              <a:gs pos="48000">
                <a:srgbClr val="B34AF2">
                  <a:alpha val="20000"/>
                </a:srgbClr>
              </a:gs>
              <a:gs pos="100000">
                <a:srgbClr val="B34AF2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D1F287-2637-439A-9001-94386B96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524500"/>
            <a:ext cx="3810000" cy="3048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0289DE">
                  <a:alpha val="70000"/>
                </a:srgbClr>
              </a:gs>
              <a:gs pos="48000">
                <a:srgbClr val="0289DE">
                  <a:alpha val="20000"/>
                </a:srgbClr>
              </a:gs>
              <a:gs pos="100000">
                <a:srgbClr val="0289DE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A51E22-243D-49BA-89FC-52A482A0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9DEFF"/>
                </a:solidFill>
              </a:defRPr>
            </a:pPr>
            <a:r>
              <a:rPr sz="1125" b="1">
                <a:solidFill>
                  <a:srgbClr val="79DEFF"/>
                </a:solidFill>
              </a:rPr>
              <a:t>LINGLONG LAB · CREATIVE PRODUCTION</a:t>
            </a:r>
          </a:p>
        </p:txBody>
      </p:sp>
      <p:sp>
        <p:nvSpPr>
          <p:cNvPr id="4" name="headline">
            <a:extLst xmlns:a="http://schemas.openxmlformats.org/drawingml/2006/main">
              <a:ext uri="{FF2B5EF4-FFF2-40B4-BE49-F238E27FC236}">
                <a16:creationId xmlns:a16="http://schemas.microsoft.com/office/drawing/2014/main" id="{FEC7D3A1-F4A2-4E49-86F7-9EF677EA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8191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AI can generate an asset.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Commercial creative needs a system.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2A36E2-AF4C-4C31-8DFB-679C9AE9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E7F7"/>
                </a:solidFill>
              </a:defRPr>
            </a:pPr>
            <a:r>
              <a:rPr sz="1650">
                <a:solidFill>
                  <a:srgbClr val="E2E7F7"/>
                </a:solidFill>
              </a:rPr>
              <a:t>Linglong Lab turns brand assets, reference media and a brief into controlled, reusable image and video workflows.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B02B41-EC6D-4A65-A0FF-D80798E0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9DEFF"/>
                </a:solidFill>
              </a:defRPr>
            </a:pPr>
            <a:r>
              <a:rPr sz="1350" b="1">
                <a:solidFill>
                  <a:srgbClr val="79DEFF"/>
                </a:solidFill>
              </a:rPr>
              <a:t>Without a production layer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24957-5F2E-4A69-891F-44F0FD78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323850" cy="3238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48C5FF"/>
              </a:gs>
              <a:gs pos="100000">
                <a:srgbClr val="4E4CCB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32605D-23F8-46E7-AE1D-04598AE8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6F1B81-C88B-4CBD-8E50-B45090EC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814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Context breaks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28523F-EA4A-4ACA-B988-E665D18A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767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DE5F6"/>
                </a:solidFill>
              </a:defRPr>
            </a:pPr>
            <a:r>
              <a:rPr sz="1200">
                <a:solidFill>
                  <a:srgbClr val="DDE5F6"/>
                </a:solidFill>
              </a:rPr>
              <a:t>Characters, products and brand cues drift between generations.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97311C-05C5-4268-80A0-CFE188EE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72025"/>
            <a:ext cx="323850" cy="3238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C86CFF"/>
              </a:gs>
              <a:gs pos="100000">
                <a:srgbClr val="4E4CCB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1864AA-5880-46FC-934D-8D8C20D0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482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ED29D9-B3AD-49B1-BC2F-DA32B84C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625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Creative support does not scale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F34377-B38D-4401-BCEE-528223C5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5777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DE5F6"/>
                </a:solidFill>
              </a:defRPr>
            </a:pPr>
            <a:r>
              <a:rPr sz="1200">
                <a:solidFill>
                  <a:srgbClr val="DDE5F6"/>
                </a:solidFill>
              </a:rPr>
              <a:t>The long tail has limited access to tailored production support.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2B0AE3-3F63-4356-A774-8F02BEE7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323850" cy="3238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48C5FF"/>
              </a:gs>
              <a:gs pos="100000">
                <a:srgbClr val="4E4CCB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94E2A4-29E4-4C57-89A4-00592C50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C964EF-E1C6-4AAA-8364-8D769946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4357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Repetitive work consumes capacity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8FC1B5-2B06-41D8-9DB0-BDE10B16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388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DE5F6"/>
                </a:solidFill>
              </a:defRPr>
            </a:pPr>
            <a:r>
              <a:rPr sz="1200">
                <a:solidFill>
                  <a:srgbClr val="DDE5F6"/>
                </a:solidFill>
              </a:rPr>
              <a:t>Format adaptation crowds out higher-value creative work.</a:t>
            </a:r>
          </a:p>
        </p:txBody>
      </p:sp>
      <p:sp>
        <p:nvSpPr>
          <p:cNvPr id="19" name="media-placeholder">
            <a:extLst xmlns:a="http://schemas.openxmlformats.org/drawingml/2006/main">
              <a:ext uri="{FF2B5EF4-FFF2-40B4-BE49-F238E27FC236}">
                <a16:creationId xmlns:a16="http://schemas.microsoft.com/office/drawing/2014/main" id="{8E48FCAC-C21A-401E-A723-DC3C7EA4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43250"/>
            <a:ext cx="8096250" cy="3943350"/>
          </a:xfrm>
          <a:prstGeom xmlns:a="http://schemas.openxmlformats.org/drawingml/2006/main" prst="roundRect">
            <a:avLst>
              <a:gd name="adj" fmla="val 3865"/>
            </a:avLst>
          </a:prstGeom>
          <a:gradFill xmlns:a="http://schemas.openxmlformats.org/drawingml/2006/main">
            <a:gsLst>
              <a:gs pos="0">
                <a:srgbClr val="132453"/>
              </a:gs>
              <a:gs pos="50000">
                <a:srgbClr val="0B1236"/>
              </a:gs>
              <a:gs pos="100000">
                <a:srgbClr val="221453"/>
              </a:gs>
            </a:gsLst>
            <a:lin ang="8100000"/>
          </a:gradFill>
          <a:ln xmlns:a="http://schemas.openxmlformats.org/drawingml/2006/main" w="12383">
            <a:solidFill>
              <a:srgbClr val="6FE1FF">
                <a:alpha val="70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1AA889-DBEB-49B6-8A4A-7C9AF599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89654"/>
            <a:ext cx="2266950" cy="22669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9C8F5"/>
              </a:gs>
              <a:gs pos="100000">
                <a:srgbClr val="B452EF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495846-B641-47E9-BD8A-198BE75E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5988" y="4365689"/>
            <a:ext cx="647700" cy="728663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FCA3CD-AD06-4E39-83A9-987EE9CA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52800"/>
            <a:ext cx="7639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3E3FF"/>
                </a:solidFill>
              </a:defRPr>
            </a:pPr>
            <a:r>
              <a:rPr sz="975" b="1">
                <a:solidFill>
                  <a:srgbClr val="83E3FF"/>
                </a:solidFill>
              </a:rPr>
              <a:t>PLACEHOLDER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DE1C70-22E1-4B8F-B3E1-E2C52CAC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666994"/>
            <a:ext cx="7562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Video workspace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97A0F4-5959-4ECC-A50B-976A386B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6219063"/>
            <a:ext cx="756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9D7F0"/>
                </a:solidFill>
              </a:defRPr>
            </a:pPr>
            <a:r>
              <a:rPr sz="1125">
                <a:solidFill>
                  <a:srgbClr val="C9D7F0"/>
                </a:solidFill>
              </a:rPr>
              <a:t>Insert product screenshot · direction → script → assets → storyboard → video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9F62FB-3CA6-42BF-A4B1-FF20EDD2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372350"/>
            <a:ext cx="1304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The missing layer is not a better model. It is production control around the model.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743B88-EE0D-40D0-BD66-2B678FA2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58150"/>
            <a:ext cx="1409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572">
            <a:solidFill>
              <a:srgbClr val="7EA5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AC1E38-CA2B-4682-83D2-1E15A26A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8DDF0"/>
                </a:solidFill>
              </a:defRPr>
            </a:pPr>
            <a:r>
              <a:rPr sz="1125">
                <a:solidFill>
                  <a:srgbClr val="D8DDF0"/>
                </a:solidFill>
              </a:rPr>
              <a:t>Confidential, proprietary and informational purposes only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6CB9FF-8852-402E-B3CB-BA2EB6AC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8096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LINGLONG LAB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354B23-F195-47B4-8075-1055E4E1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0962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75DDFB"/>
                </a:solidFill>
              </a:defRPr>
            </a:pPr>
            <a:r>
              <a:rPr sz="1200">
                <a:solidFill>
                  <a:srgbClr val="75DDF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52298973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71047"/>
            </a:gs>
            <a:gs pos="50000">
              <a:srgbClr val="080B38"/>
            </a:gs>
            <a:gs pos="100000">
              <a:srgbClr val="062D5E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EAFFD5-7E26-4AAB-A444-B843A5BB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3619500" cy="3238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B34AF2">
                  <a:alpha val="70000"/>
                </a:srgbClr>
              </a:gs>
              <a:gs pos="48000">
                <a:srgbClr val="B34AF2">
                  <a:alpha val="20000"/>
                </a:srgbClr>
              </a:gs>
              <a:gs pos="100000">
                <a:srgbClr val="B34AF2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0A1161-A422-445D-A308-858C170D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524500"/>
            <a:ext cx="3810000" cy="3048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0289DE">
                  <a:alpha val="70000"/>
                </a:srgbClr>
              </a:gs>
              <a:gs pos="48000">
                <a:srgbClr val="0289DE">
                  <a:alpha val="20000"/>
                </a:srgbClr>
              </a:gs>
              <a:gs pos="100000">
                <a:srgbClr val="0289DE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8F01B8-C908-448D-AA60-A1F50914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9DEFF"/>
                </a:solidFill>
              </a:defRPr>
            </a:pPr>
            <a:r>
              <a:rPr sz="1125" b="1">
                <a:solidFill>
                  <a:srgbClr val="79DEFF"/>
                </a:solidFill>
              </a:rPr>
              <a:t>PRODUCT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906E0-2D7B-4C3B-938F-45C4C8F9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14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One workflow for image creation</a:t>
            </a:r>
          </a:p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and scripted video.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1BF367-1D18-4D11-BB5A-779D3BB5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0E6F7"/>
                </a:solidFill>
              </a:defRPr>
            </a:pPr>
            <a:r>
              <a:rPr sz="1575">
                <a:solidFill>
                  <a:srgbClr val="E0E6F7"/>
                </a:solidFill>
              </a:rPr>
              <a:t>The system keeps source material, creative decisions and selected outputs connected across the production process.</a:t>
            </a:r>
          </a:p>
        </p:txBody>
      </p:sp>
      <p:sp>
        <p:nvSpPr>
          <p:cNvPr id="6" name="media-placeholder">
            <a:extLst xmlns:a="http://schemas.openxmlformats.org/drawingml/2006/main">
              <a:ext uri="{FF2B5EF4-FFF2-40B4-BE49-F238E27FC236}">
                <a16:creationId xmlns:a16="http://schemas.microsoft.com/office/drawing/2014/main" id="{69AF5FCA-F1BC-477D-880F-1833098B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6477000" cy="3333750"/>
          </a:xfrm>
          <a:prstGeom xmlns:a="http://schemas.openxmlformats.org/drawingml/2006/main" prst="roundRect">
            <a:avLst>
              <a:gd name="adj" fmla="val 4571"/>
            </a:avLst>
          </a:prstGeom>
          <a:gradFill xmlns:a="http://schemas.openxmlformats.org/drawingml/2006/main">
            <a:gsLst>
              <a:gs pos="0">
                <a:srgbClr val="132453"/>
              </a:gs>
              <a:gs pos="50000">
                <a:srgbClr val="0B1236"/>
              </a:gs>
              <a:gs pos="100000">
                <a:srgbClr val="221453"/>
              </a:gs>
            </a:gsLst>
            <a:lin ang="8100000"/>
          </a:gradFill>
          <a:ln xmlns:a="http://schemas.openxmlformats.org/drawingml/2006/main" w="12383">
            <a:solidFill>
              <a:srgbClr val="6FE1FF">
                <a:alpha val="7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964036-C61D-4451-9E58-A5F41557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370" y="3886200"/>
            <a:ext cx="1813560" cy="181356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9C8F5"/>
              </a:gs>
              <a:gs pos="100000">
                <a:srgbClr val="B452EF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772D45-A997-4010-AE0F-79704D0A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840" y="4119563"/>
            <a:ext cx="518160" cy="58293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0C73F7-79BF-4A53-A826-88C0F538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95650"/>
            <a:ext cx="601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3E3FF"/>
                </a:solidFill>
              </a:defRPr>
            </a:pPr>
            <a:r>
              <a:rPr sz="975" b="1">
                <a:solidFill>
                  <a:srgbClr val="83E3FF"/>
                </a:solidFill>
              </a:rPr>
              <a:t>PLACEHOLDER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3F994C-7E78-4D05-83CB-C8844160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5943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Image Studio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EA38CC-43F8-4FCF-8B81-E42D177C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86425"/>
            <a:ext cx="594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9D7F0"/>
                </a:solidFill>
              </a:defRPr>
            </a:pPr>
            <a:r>
              <a:rPr sz="1125">
                <a:solidFill>
                  <a:srgbClr val="C9D7F0"/>
                </a:solidFill>
              </a:rPr>
              <a:t>Insert product screenshot · create, edit, resize, Kakao &amp; GIF</a:t>
            </a:r>
          </a:p>
        </p:txBody>
      </p:sp>
      <p:sp>
        <p:nvSpPr>
          <p:cNvPr id="12" name="media-placeholder">
            <a:extLst xmlns:a="http://schemas.openxmlformats.org/drawingml/2006/main">
              <a:ext uri="{FF2B5EF4-FFF2-40B4-BE49-F238E27FC236}">
                <a16:creationId xmlns:a16="http://schemas.microsoft.com/office/drawing/2014/main" id="{96FB7414-73D7-47CE-8FF4-84CA7F68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86100"/>
            <a:ext cx="6477000" cy="3333750"/>
          </a:xfrm>
          <a:prstGeom xmlns:a="http://schemas.openxmlformats.org/drawingml/2006/main" prst="roundRect">
            <a:avLst>
              <a:gd name="adj" fmla="val 4571"/>
            </a:avLst>
          </a:prstGeom>
          <a:gradFill xmlns:a="http://schemas.openxmlformats.org/drawingml/2006/main">
            <a:gsLst>
              <a:gs pos="0">
                <a:srgbClr val="132453"/>
              </a:gs>
              <a:gs pos="50000">
                <a:srgbClr val="0B1236"/>
              </a:gs>
              <a:gs pos="100000">
                <a:srgbClr val="221453"/>
              </a:gs>
            </a:gsLst>
            <a:lin ang="8100000"/>
          </a:gradFill>
          <a:ln xmlns:a="http://schemas.openxmlformats.org/drawingml/2006/main" w="12383">
            <a:solidFill>
              <a:srgbClr val="6FE1FF">
                <a:alpha val="7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7A4ECF-E1F4-428D-84AB-9FC8A52F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220" y="3886200"/>
            <a:ext cx="1813560" cy="181356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9C8F5"/>
              </a:gs>
              <a:gs pos="100000">
                <a:srgbClr val="B452EF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BC8328-6AA8-4608-A999-69161A36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4690" y="4119563"/>
            <a:ext cx="518160" cy="58293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633B89-D063-406A-92C0-1A7660EB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95650"/>
            <a:ext cx="601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3E3FF"/>
                </a:solidFill>
              </a:defRPr>
            </a:pPr>
            <a:r>
              <a:rPr sz="975" b="1">
                <a:solidFill>
                  <a:srgbClr val="83E3FF"/>
                </a:solidFill>
              </a:rPr>
              <a:t>PLACEHOLDER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BC7BDE-445A-4290-B771-D58C3CF7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19700"/>
            <a:ext cx="5943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Video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852B44-DC64-440E-9695-9B45BE7A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686425"/>
            <a:ext cx="594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9D7F0"/>
                </a:solidFill>
              </a:defRPr>
            </a:pPr>
            <a:r>
              <a:rPr sz="1125">
                <a:solidFill>
                  <a:srgbClr val="C9D7F0"/>
                </a:solidFill>
              </a:rPr>
              <a:t>Insert product screenshot · plan, design, storyboard, generate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9CF1A2-20ED-46AD-968C-691F2129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77050"/>
            <a:ext cx="400050" cy="4000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78DFFF"/>
              </a:gs>
              <a:gs pos="100000">
                <a:srgbClr val="4E4CCB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1337F2-5246-457F-BFCB-36866794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9532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60D795-DB2E-44BD-978F-18A7D82B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85800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8DFFF"/>
                </a:solidFill>
              </a:defRPr>
            </a:pPr>
            <a:r>
              <a:rPr sz="1350" b="1">
                <a:solidFill>
                  <a:srgbClr val="78DFFF"/>
                </a:solidFill>
              </a:rPr>
              <a:t>Shared contracts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AFBD15-61B9-4724-88D1-3AD87119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153275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1E7F6"/>
                </a:solidFill>
              </a:defRPr>
            </a:pPr>
            <a:r>
              <a:rPr sz="1050">
                <a:solidFill>
                  <a:srgbClr val="E1E7F6"/>
                </a:solidFill>
              </a:rPr>
              <a:t>Strategy, script, design and storyboard use the same asset plan.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A98FCE-918A-48F0-A44C-3CB5CB79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877050"/>
            <a:ext cx="400050" cy="4000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CE78FF"/>
              </a:gs>
              <a:gs pos="100000">
                <a:srgbClr val="4E4CCB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829303-ACAB-42BD-9324-7F11FCBD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9532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B409DD-3B52-4421-98B9-CB0D6300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685800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E78FF"/>
                </a:solidFill>
              </a:defRPr>
            </a:pPr>
            <a:r>
              <a:rPr sz="1350" b="1">
                <a:solidFill>
                  <a:srgbClr val="CE78FF"/>
                </a:solidFill>
              </a:rPr>
              <a:t>Reusable visual states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693F30-8C4A-4944-AEE9-D561EF01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7153275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1E7F6"/>
                </a:solidFill>
              </a:defRPr>
            </a:pPr>
            <a:r>
              <a:rPr sz="1050">
                <a:solidFill>
                  <a:srgbClr val="E1E7F6"/>
                </a:solidFill>
              </a:rPr>
              <a:t>Approved people, products and settings can carry across outputs.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14D612-BF11-4F62-A26A-F3126FF1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877050"/>
            <a:ext cx="400050" cy="4000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4CBFFF"/>
              </a:gs>
              <a:gs pos="100000">
                <a:srgbClr val="4E4CCB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3FB25F-51BC-4A19-9276-94D1FD1B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9532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4E3610-702F-45AA-951F-2D375E96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685800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CBFFF"/>
                </a:solidFill>
              </a:defRPr>
            </a:pPr>
            <a:r>
              <a:rPr sz="1350" b="1">
                <a:solidFill>
                  <a:srgbClr val="4CBFFF"/>
                </a:solidFill>
              </a:rPr>
              <a:t>Shot-level control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684FF5-94D8-43C4-88A8-5B25FA04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7153275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1E7F6"/>
                </a:solidFill>
              </a:defRPr>
            </a:pPr>
            <a:r>
              <a:rPr sz="1050">
                <a:solidFill>
                  <a:srgbClr val="E1E7F6"/>
                </a:solidFill>
              </a:rPr>
              <a:t>Users approve the decisions that are costly to reverse.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08C0F8-1D8D-4D60-906E-6AD193D0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877050"/>
            <a:ext cx="400050" cy="4000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8C8BFF"/>
              </a:gs>
              <a:gs pos="100000">
                <a:srgbClr val="4E4CCB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C14D40-420E-4FF1-864B-1F7E21DF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9532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30818A-7D2B-4B3B-AC60-9C3B0A41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85800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C8BFF"/>
                </a:solidFill>
              </a:defRPr>
            </a:pPr>
            <a:r>
              <a:rPr sz="1350" b="1">
                <a:solidFill>
                  <a:srgbClr val="8C8BFF"/>
                </a:solidFill>
              </a:rPr>
              <a:t>Traceable production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5EE523-D180-41B9-A164-B4B47DCE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7153275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1E7F6"/>
                </a:solidFill>
              </a:defRPr>
            </a:pPr>
            <a:r>
              <a:rPr sz="1050">
                <a:solidFill>
                  <a:srgbClr val="E1E7F6"/>
                </a:solidFill>
              </a:rPr>
              <a:t>Prompts, sources, versions and selections remain reviewable.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0F4A97-0F79-471F-99FC-12D151BA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58150"/>
            <a:ext cx="1409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572">
            <a:solidFill>
              <a:srgbClr val="7EA5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0ED9B2-4C14-40D9-B407-5A7428EA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8DDF0"/>
                </a:solidFill>
              </a:defRPr>
            </a:pPr>
            <a:r>
              <a:rPr sz="1125">
                <a:solidFill>
                  <a:srgbClr val="D8DDF0"/>
                </a:solidFill>
              </a:rPr>
              <a:t>Confidential, proprietary and informational purposes only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1CF23C-75AB-49A5-9205-2002F787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8096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LINGLONG LAB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0F3B2D-BA37-4772-88A3-1E1DB4FD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0962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75DDFB"/>
                </a:solidFill>
              </a:defRPr>
            </a:pPr>
            <a:r>
              <a:rPr sz="1200">
                <a:solidFill>
                  <a:srgbClr val="75DDF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17139878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71047"/>
            </a:gs>
            <a:gs pos="50000">
              <a:srgbClr val="080B38"/>
            </a:gs>
            <a:gs pos="100000">
              <a:srgbClr val="062D5E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168543-6441-4B99-A1FA-FE79A5B7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3619500" cy="3238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B34AF2">
                  <a:alpha val="70000"/>
                </a:srgbClr>
              </a:gs>
              <a:gs pos="48000">
                <a:srgbClr val="B34AF2">
                  <a:alpha val="20000"/>
                </a:srgbClr>
              </a:gs>
              <a:gs pos="100000">
                <a:srgbClr val="B34AF2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D5FD62-6A32-4073-932B-7971DAA1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524500"/>
            <a:ext cx="3810000" cy="3048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0289DE">
                  <a:alpha val="70000"/>
                </a:srgbClr>
              </a:gs>
              <a:gs pos="48000">
                <a:srgbClr val="0289DE">
                  <a:alpha val="20000"/>
                </a:srgbClr>
              </a:gs>
              <a:gs pos="100000">
                <a:srgbClr val="0289DE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51861-DB34-40D9-9ABD-FC37DDEB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9DEFF"/>
                </a:solidFill>
              </a:defRPr>
            </a:pPr>
            <a:r>
              <a:rPr sz="1125" b="1">
                <a:solidFill>
                  <a:srgbClr val="79DEFF"/>
                </a:solidFill>
              </a:rPr>
              <a:t>WHAT IT PRODUCES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11E4EF-39D3-44C5-9B3C-29B966C3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334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FFFFFF"/>
                </a:solidFill>
              </a:defRPr>
            </a:pPr>
            <a:r>
              <a:rPr sz="3975" b="1">
                <a:solidFill>
                  <a:srgbClr val="FFFFFF"/>
                </a:solidFill>
              </a:rPr>
              <a:t>One brief can become a</a:t>
            </a:r>
          </a:p>
          <a:p xmlns:a="http://schemas.openxmlformats.org/drawingml/2006/main">
            <a:pPr>
              <a:defRPr sz="3975" b="1">
                <a:solidFill>
                  <a:srgbClr val="FFFFFF"/>
                </a:solidFill>
              </a:defRPr>
            </a:pPr>
            <a:r>
              <a:rPr sz="3975" b="1">
                <a:solidFill>
                  <a:srgbClr val="FFFFFF"/>
                </a:solidFill>
              </a:rPr>
              <a:t>campaign-ready creative set.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BC9F45-0381-498B-9C69-A07667E0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DE6F8"/>
                </a:solidFill>
              </a:defRPr>
            </a:pPr>
            <a:r>
              <a:rPr sz="1575">
                <a:solidFill>
                  <a:srgbClr val="DDE6F8"/>
                </a:solidFill>
              </a:rPr>
              <a:t>A video, images and interface views can all trace back to the same production decisions — rather than becoming disconnected files.</a:t>
            </a:r>
          </a:p>
        </p:txBody>
      </p:sp>
      <p:sp>
        <p:nvSpPr>
          <p:cNvPr id="6" name="media-placeholder">
            <a:extLst xmlns:a="http://schemas.openxmlformats.org/drawingml/2006/main">
              <a:ext uri="{FF2B5EF4-FFF2-40B4-BE49-F238E27FC236}">
                <a16:creationId xmlns:a16="http://schemas.microsoft.com/office/drawing/2014/main" id="{76CD80A5-E8E0-4174-BE44-D556A32F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5715000" cy="3209925"/>
          </a:xfrm>
          <a:prstGeom xmlns:a="http://schemas.openxmlformats.org/drawingml/2006/main" prst="roundRect">
            <a:avLst>
              <a:gd name="adj" fmla="val 4748"/>
            </a:avLst>
          </a:prstGeom>
          <a:gradFill xmlns:a="http://schemas.openxmlformats.org/drawingml/2006/main">
            <a:gsLst>
              <a:gs pos="0">
                <a:srgbClr val="132453"/>
              </a:gs>
              <a:gs pos="50000">
                <a:srgbClr val="0B1236"/>
              </a:gs>
              <a:gs pos="100000">
                <a:srgbClr val="221453"/>
              </a:gs>
            </a:gsLst>
            <a:lin ang="8100000"/>
          </a:gradFill>
          <a:ln xmlns:a="http://schemas.openxmlformats.org/drawingml/2006/main" w="12383">
            <a:solidFill>
              <a:srgbClr val="6FE1FF">
                <a:alpha val="7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10BF98-ADF5-48DF-8CD5-A2562C6B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08882"/>
            <a:ext cx="1600200" cy="16002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9C8F5"/>
              </a:gs>
              <a:gs pos="100000">
                <a:srgbClr val="B452EF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AF5515-ADF0-4555-ADE4-00C2B97B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33577"/>
            <a:ext cx="457200" cy="514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204F5F-079D-4E67-A4CC-47EFA5FA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525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3E3FF"/>
                </a:solidFill>
              </a:defRPr>
            </a:pPr>
            <a:r>
              <a:rPr sz="975" b="1">
                <a:solidFill>
                  <a:srgbClr val="83E3FF"/>
                </a:solidFill>
              </a:rPr>
              <a:t>PLACEHOLDER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1652D6-9DEB-44BA-AA83-D3635A39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92852"/>
            <a:ext cx="5181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Hero commercial video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A56146-DCA3-490F-9D81-A01CF9F8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42242"/>
            <a:ext cx="518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9D7F0"/>
                </a:solidFill>
              </a:defRPr>
            </a:pPr>
            <a:r>
              <a:rPr sz="1125">
                <a:solidFill>
                  <a:srgbClr val="C9D7F0"/>
                </a:solidFill>
              </a:rPr>
              <a:t>15–30 second customer-ready ad</a:t>
            </a:r>
          </a:p>
        </p:txBody>
      </p:sp>
      <p:sp>
        <p:nvSpPr>
          <p:cNvPr id="12" name="media-placeholder">
            <a:extLst xmlns:a="http://schemas.openxmlformats.org/drawingml/2006/main">
              <a:ext uri="{FF2B5EF4-FFF2-40B4-BE49-F238E27FC236}">
                <a16:creationId xmlns:a16="http://schemas.microsoft.com/office/drawing/2014/main" id="{46B90C5B-AB01-4A62-B15B-D9F1B268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38500"/>
            <a:ext cx="3524250" cy="1524000"/>
          </a:xfrm>
          <a:prstGeom xmlns:a="http://schemas.openxmlformats.org/drawingml/2006/main" prst="roundRect">
            <a:avLst>
              <a:gd name="adj" fmla="val 10000"/>
            </a:avLst>
          </a:prstGeom>
          <a:gradFill xmlns:a="http://schemas.openxmlformats.org/drawingml/2006/main">
            <a:gsLst>
              <a:gs pos="0">
                <a:srgbClr val="132453"/>
              </a:gs>
              <a:gs pos="50000">
                <a:srgbClr val="0B1236"/>
              </a:gs>
              <a:gs pos="100000">
                <a:srgbClr val="221453"/>
              </a:gs>
            </a:gsLst>
            <a:lin ang="8100000"/>
          </a:gradFill>
          <a:ln xmlns:a="http://schemas.openxmlformats.org/drawingml/2006/main" w="12383">
            <a:solidFill>
              <a:srgbClr val="6FE1FF">
                <a:alpha val="7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DBC81E-906C-421B-BDB7-6A362067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762375"/>
            <a:ext cx="609600" cy="6096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9C8F5"/>
              </a:gs>
              <a:gs pos="100000">
                <a:srgbClr val="B452EF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87DC17-B4F8-4090-AA16-8F844293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52875"/>
            <a:ext cx="180975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04D396-DF34-4775-83FC-1E9B1610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956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3E3FF"/>
                </a:solidFill>
              </a:defRPr>
            </a:pPr>
            <a:r>
              <a:rPr sz="900" b="1">
                <a:solidFill>
                  <a:srgbClr val="83E3FF"/>
                </a:solidFill>
              </a:rPr>
              <a:t>PLACEHOLDER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E5C8A0-7140-4AA8-8A57-CE81D5C9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00475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Series consistency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3DC6DE-5486-44F1-A9C9-41747E8B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052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C9D7F0"/>
                </a:solidFill>
              </a:defRPr>
            </a:pPr>
            <a:r>
              <a:rPr sz="1050">
                <a:solidFill>
                  <a:srgbClr val="C9D7F0"/>
                </a:solidFill>
              </a:rPr>
              <a:t>Characters, scenes and product states</a:t>
            </a:r>
          </a:p>
        </p:txBody>
      </p:sp>
      <p:sp>
        <p:nvSpPr>
          <p:cNvPr id="18" name="media-placeholder">
            <a:extLst xmlns:a="http://schemas.openxmlformats.org/drawingml/2006/main">
              <a:ext uri="{FF2B5EF4-FFF2-40B4-BE49-F238E27FC236}">
                <a16:creationId xmlns:a16="http://schemas.microsoft.com/office/drawing/2014/main" id="{2E1CEE10-B2CB-41BB-836B-FC517465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238500"/>
            <a:ext cx="3524250" cy="1524000"/>
          </a:xfrm>
          <a:prstGeom xmlns:a="http://schemas.openxmlformats.org/drawingml/2006/main" prst="roundRect">
            <a:avLst>
              <a:gd name="adj" fmla="val 10000"/>
            </a:avLst>
          </a:prstGeom>
          <a:gradFill xmlns:a="http://schemas.openxmlformats.org/drawingml/2006/main">
            <a:gsLst>
              <a:gs pos="0">
                <a:srgbClr val="132453"/>
              </a:gs>
              <a:gs pos="50000">
                <a:srgbClr val="0B1236"/>
              </a:gs>
              <a:gs pos="100000">
                <a:srgbClr val="221453"/>
              </a:gs>
            </a:gsLst>
            <a:lin ang="8100000"/>
          </a:gradFill>
          <a:ln xmlns:a="http://schemas.openxmlformats.org/drawingml/2006/main" w="12383">
            <a:solidFill>
              <a:srgbClr val="6FE1FF">
                <a:alpha val="7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B90E7D-FC2D-4FE3-8163-57305699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762375"/>
            <a:ext cx="609600" cy="6096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9C8F5"/>
              </a:gs>
              <a:gs pos="100000">
                <a:srgbClr val="B452EF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3FD1E2-76D3-49EF-84D8-F0390CFA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952875"/>
            <a:ext cx="180975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5A1B09-88A3-4946-A704-9D6755BA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34956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3E3FF"/>
                </a:solidFill>
              </a:defRPr>
            </a:pPr>
            <a:r>
              <a:rPr sz="900" b="1">
                <a:solidFill>
                  <a:srgbClr val="83E3FF"/>
                </a:solidFill>
              </a:rPr>
              <a:t>PLACEHOLDER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789975-6ADA-49AD-A21E-6B35B8B1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3800475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One idea, many sizes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85E49B-4234-441B-872A-1C25E48A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41052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C9D7F0"/>
                </a:solidFill>
              </a:defRPr>
            </a:pPr>
            <a:r>
              <a:rPr sz="1050">
                <a:solidFill>
                  <a:srgbClr val="C9D7F0"/>
                </a:solidFill>
              </a:rPr>
              <a:t>Landscape, portrait and end-card adaptations</a:t>
            </a:r>
          </a:p>
        </p:txBody>
      </p:sp>
      <p:sp>
        <p:nvSpPr>
          <p:cNvPr id="24" name="media-placeholder">
            <a:extLst xmlns:a="http://schemas.openxmlformats.org/drawingml/2006/main">
              <a:ext uri="{FF2B5EF4-FFF2-40B4-BE49-F238E27FC236}">
                <a16:creationId xmlns:a16="http://schemas.microsoft.com/office/drawing/2014/main" id="{55002DD1-AEC4-4FBE-A8D3-2E50976A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48250"/>
            <a:ext cx="3524250" cy="1524000"/>
          </a:xfrm>
          <a:prstGeom xmlns:a="http://schemas.openxmlformats.org/drawingml/2006/main" prst="roundRect">
            <a:avLst>
              <a:gd name="adj" fmla="val 10000"/>
            </a:avLst>
          </a:prstGeom>
          <a:gradFill xmlns:a="http://schemas.openxmlformats.org/drawingml/2006/main">
            <a:gsLst>
              <a:gs pos="0">
                <a:srgbClr val="132453"/>
              </a:gs>
              <a:gs pos="50000">
                <a:srgbClr val="0B1236"/>
              </a:gs>
              <a:gs pos="100000">
                <a:srgbClr val="221453"/>
              </a:gs>
            </a:gsLst>
            <a:lin ang="8100000"/>
          </a:gradFill>
          <a:ln xmlns:a="http://schemas.openxmlformats.org/drawingml/2006/main" w="12383">
            <a:solidFill>
              <a:srgbClr val="6FE1FF">
                <a:alpha val="70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913ED5-2C90-4CBC-8057-F53AAD51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572125"/>
            <a:ext cx="609600" cy="6096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9C8F5"/>
              </a:gs>
              <a:gs pos="100000">
                <a:srgbClr val="B452EF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2DDC21-A014-4A9D-9E36-3607EBC8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762625"/>
            <a:ext cx="180975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06738D-B7C4-4939-A364-D33E92B6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054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3E3FF"/>
                </a:solidFill>
              </a:defRPr>
            </a:pPr>
            <a:r>
              <a:rPr sz="900" b="1">
                <a:solidFill>
                  <a:srgbClr val="83E3FF"/>
                </a:solidFill>
              </a:rPr>
              <a:t>PLACEHOLDER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957FAE-6F72-4113-BA1B-F6201F78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10225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Kakao &amp; GIF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4A6B18-696A-4456-8388-6A23E8D7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9150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C9D7F0"/>
                </a:solidFill>
              </a:defRPr>
            </a:pPr>
            <a:r>
              <a:rPr sz="1050">
                <a:solidFill>
                  <a:srgbClr val="C9D7F0"/>
                </a:solidFill>
              </a:rPr>
              <a:t>Format-specific motion and ad assets</a:t>
            </a:r>
          </a:p>
        </p:txBody>
      </p:sp>
      <p:sp>
        <p:nvSpPr>
          <p:cNvPr id="30" name="media-placeholder">
            <a:extLst xmlns:a="http://schemas.openxmlformats.org/drawingml/2006/main">
              <a:ext uri="{FF2B5EF4-FFF2-40B4-BE49-F238E27FC236}">
                <a16:creationId xmlns:a16="http://schemas.microsoft.com/office/drawing/2014/main" id="{ADBF820A-A10A-4A08-BB8C-3068DB24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5048250"/>
            <a:ext cx="3524250" cy="1524000"/>
          </a:xfrm>
          <a:prstGeom xmlns:a="http://schemas.openxmlformats.org/drawingml/2006/main" prst="roundRect">
            <a:avLst>
              <a:gd name="adj" fmla="val 10000"/>
            </a:avLst>
          </a:prstGeom>
          <a:gradFill xmlns:a="http://schemas.openxmlformats.org/drawingml/2006/main">
            <a:gsLst>
              <a:gs pos="0">
                <a:srgbClr val="132453"/>
              </a:gs>
              <a:gs pos="50000">
                <a:srgbClr val="0B1236"/>
              </a:gs>
              <a:gs pos="100000">
                <a:srgbClr val="221453"/>
              </a:gs>
            </a:gsLst>
            <a:lin ang="8100000"/>
          </a:gradFill>
          <a:ln xmlns:a="http://schemas.openxmlformats.org/drawingml/2006/main" w="12383">
            <a:solidFill>
              <a:srgbClr val="6FE1FF">
                <a:alpha val="7000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4411DC-B30F-43DD-B27C-24ED633E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5572125"/>
            <a:ext cx="609600" cy="6096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9C8F5"/>
              </a:gs>
              <a:gs pos="100000">
                <a:srgbClr val="B452EF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A767BA-B21F-4575-832C-8DF5451C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762625"/>
            <a:ext cx="180975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C0BE69-940E-45DF-BD03-F33199DF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53054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3E3FF"/>
                </a:solidFill>
              </a:defRPr>
            </a:pPr>
            <a:r>
              <a:rPr sz="900" b="1">
                <a:solidFill>
                  <a:srgbClr val="83E3FF"/>
                </a:solidFill>
              </a:rPr>
              <a:t>PLACEHOLDER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414D00-5517-45A0-B387-8239B129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5610225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Storyboard control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83FB0C-3441-40E2-808D-7C3A4204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59150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C9D7F0"/>
                </a:solidFill>
              </a:defRPr>
            </a:pPr>
            <a:r>
              <a:rPr sz="1050">
                <a:solidFill>
                  <a:srgbClr val="C9D7F0"/>
                </a:solidFill>
              </a:rPr>
              <a:t>Scenes, prompts, versions and take selection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812A1A-05ED-48D2-BB2D-62F2533E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934200"/>
            <a:ext cx="1219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The result is not a single generated file. It is a reusable, reviewable creative package ready for commercial deployment.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1EC83D-89F4-4EE7-B72C-E45BE427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58150"/>
            <a:ext cx="1409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572">
            <a:solidFill>
              <a:srgbClr val="7EA5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591F3F-E2E3-4FB1-AEB1-41CC84B4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8DDF0"/>
                </a:solidFill>
              </a:defRPr>
            </a:pPr>
            <a:r>
              <a:rPr sz="1125">
                <a:solidFill>
                  <a:srgbClr val="D8DDF0"/>
                </a:solidFill>
              </a:rPr>
              <a:t>Confidential, proprietary and informational purposes only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BD318B-D307-4D4A-B9F1-D6706ECA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8096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LINGLONG LAB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C56700-C53C-42D2-8141-917645E4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0962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75DDFB"/>
                </a:solidFill>
              </a:defRPr>
            </a:pPr>
            <a:r>
              <a:rPr sz="1200">
                <a:solidFill>
                  <a:srgbClr val="75DDF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389535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2026-07-27T14:23:24.3950000Z</dcterms:created>
  <dcterms:modified xsi:type="dcterms:W3CDTF">2026-07-27T14:23:24.3960000Z</dcterms:modified>
</coreProperties>
</file>